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48768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D6"/>
    <a:srgbClr val="D5DFDC"/>
    <a:srgbClr val="DCED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9" autoAdjust="0"/>
  </p:normalViewPr>
  <p:slideViewPr>
    <p:cSldViewPr snapToGrid="0">
      <p:cViewPr varScale="1">
        <p:scale>
          <a:sx n="112" d="100"/>
          <a:sy n="112" d="100"/>
        </p:scale>
        <p:origin x="115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3D4CD-E882-0372-4EB9-17EC0E00D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8125"/>
            <a:ext cx="9144000" cy="1697849"/>
          </a:xfrm>
        </p:spPr>
        <p:txBody>
          <a:bodyPr anchor="b"/>
          <a:lstStyle>
            <a:lvl1pPr algn="ctr">
              <a:defRPr sz="42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0AA81F-204B-5986-6D78-CB53C6197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1449"/>
            <a:ext cx="9144000" cy="1177431"/>
          </a:xfrm>
        </p:spPr>
        <p:txBody>
          <a:bodyPr/>
          <a:lstStyle>
            <a:lvl1pPr marL="0" indent="0" algn="ctr">
              <a:buNone/>
              <a:defRPr sz="1707"/>
            </a:lvl1pPr>
            <a:lvl2pPr marL="325115" indent="0" algn="ctr">
              <a:buNone/>
              <a:defRPr sz="1422"/>
            </a:lvl2pPr>
            <a:lvl3pPr marL="650230" indent="0" algn="ctr">
              <a:buNone/>
              <a:defRPr sz="1280"/>
            </a:lvl3pPr>
            <a:lvl4pPr marL="975345" indent="0" algn="ctr">
              <a:buNone/>
              <a:defRPr sz="1138"/>
            </a:lvl4pPr>
            <a:lvl5pPr marL="1300460" indent="0" algn="ctr">
              <a:buNone/>
              <a:defRPr sz="1138"/>
            </a:lvl5pPr>
            <a:lvl6pPr marL="1625575" indent="0" algn="ctr">
              <a:buNone/>
              <a:defRPr sz="1138"/>
            </a:lvl6pPr>
            <a:lvl7pPr marL="1950690" indent="0" algn="ctr">
              <a:buNone/>
              <a:defRPr sz="1138"/>
            </a:lvl7pPr>
            <a:lvl8pPr marL="2275804" indent="0" algn="ctr">
              <a:buNone/>
              <a:defRPr sz="1138"/>
            </a:lvl8pPr>
            <a:lvl9pPr marL="2600919" indent="0" algn="ctr">
              <a:buNone/>
              <a:defRPr sz="1138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018F58-B487-EAFF-A9BB-CCBEF193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993C6-EB4B-7230-94A5-A18AE3EB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E3A497-207E-65B2-4434-3A8947D2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41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70DAE-62E7-E43D-EFA7-41F03BE9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C3023-C171-A705-E777-1DE0F062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3AA1B-D450-9752-C17C-83BE9928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B5DFFB-5CCA-AEFA-D6A5-B345195F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DE799-CB22-46CA-F8A4-96951B1E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7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C5492-BBE6-8711-3BB4-F62CA1F9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15814"/>
            <a:ext cx="10515600" cy="20286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DADD7C-6592-2CC0-2F03-B61BF6288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63618"/>
            <a:ext cx="10515600" cy="1066800"/>
          </a:xfrm>
        </p:spPr>
        <p:txBody>
          <a:bodyPr/>
          <a:lstStyle>
            <a:lvl1pPr marL="0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1pPr>
            <a:lvl2pPr marL="32511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2pPr>
            <a:lvl3pPr marL="65023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3pPr>
            <a:lvl4pPr marL="975345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4pPr>
            <a:lvl5pPr marL="1300460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5pPr>
            <a:lvl6pPr marL="1625575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6pPr>
            <a:lvl7pPr marL="1950690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7pPr>
            <a:lvl8pPr marL="2275804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8pPr>
            <a:lvl9pPr marL="2600919" indent="0">
              <a:buNone/>
              <a:defRPr sz="11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20B85-A650-F0AD-7D09-5213EEB5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462AA-C4D0-1C1A-FC13-233498EA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BD758D-593A-43BF-D125-BECD3B70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3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0CBC1-0AFC-97D0-BD12-5DDE5829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96AA57-C6D4-F149-07BC-2B10958F4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8222"/>
            <a:ext cx="518160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F2548C-9007-C1E3-6038-E3B74F2A3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8222"/>
            <a:ext cx="518160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3C91A3-2C38-9518-9E89-7883BB0A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8B10E8-36F4-91EA-C580-13E893C4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2BC61A-1DBB-A9B1-9661-6C43380D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3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F7C20-1EBB-643F-1185-41EB97E5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9645"/>
            <a:ext cx="10515600" cy="9426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5601A9-C434-7391-AA12-0934C1D60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195494"/>
            <a:ext cx="5157787" cy="585893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9E0045-F797-542A-1085-D698B0E22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81387"/>
            <a:ext cx="5157787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1D8997-39AF-70F7-E48E-5674B81D0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95494"/>
            <a:ext cx="5183188" cy="585893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B8A507-B6E7-C1DC-4777-19A02D1BF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81387"/>
            <a:ext cx="5183188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3687E8-30C5-0791-D508-1E438F4A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E28D98-CBE1-96FA-1533-E8F33FDB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69487C-A819-A0C0-0E2F-88FBF9DA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75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37D12-92BC-1295-F5ED-255A8A06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35F917-C6C5-764C-58B9-A7DE7D4A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CDCC2D-6C14-4036-BC22-C184A99E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0A7B78-48D9-C367-F643-43361876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36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19CF16-3ACD-2B20-1B26-2326CDAF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0BA258-0E93-1A30-D0A1-20A88760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13A9D1-67E2-1FC2-F285-F2E90E29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02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2EBB7-3004-2E23-D539-BAA894F3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25120"/>
            <a:ext cx="3932237" cy="1137920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37108-6282-E8EB-A3A7-C130645AE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02169"/>
            <a:ext cx="6172200" cy="3465689"/>
          </a:xfrm>
        </p:spPr>
        <p:txBody>
          <a:bodyPr/>
          <a:lstStyle>
            <a:lvl1pPr>
              <a:defRPr sz="2276"/>
            </a:lvl1pPr>
            <a:lvl2pPr>
              <a:defRPr sz="1991"/>
            </a:lvl2pPr>
            <a:lvl3pPr>
              <a:defRPr sz="1707"/>
            </a:lvl3pPr>
            <a:lvl4pPr>
              <a:defRPr sz="1422"/>
            </a:lvl4pPr>
            <a:lvl5pPr>
              <a:defRPr sz="1422"/>
            </a:lvl5pPr>
            <a:lvl6pPr>
              <a:defRPr sz="1422"/>
            </a:lvl6pPr>
            <a:lvl7pPr>
              <a:defRPr sz="1422"/>
            </a:lvl7pPr>
            <a:lvl8pPr>
              <a:defRPr sz="1422"/>
            </a:lvl8pPr>
            <a:lvl9pPr>
              <a:defRPr sz="1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90FDF1-730F-F87B-79AC-D74FA4FFD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463040"/>
            <a:ext cx="3932237" cy="2710463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045FA2-9A6D-A21E-4457-BEDC2A88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9F11A5-2F0F-8CAD-F934-CB9E9E57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B41CA9-C8A9-C5F9-B8DF-AB79BC40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41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82C2E-C8F8-77B5-0E19-49670345E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25120"/>
            <a:ext cx="3932237" cy="1137920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E2D22A-745B-9821-786D-F80F88B11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2169"/>
            <a:ext cx="6172200" cy="3465689"/>
          </a:xfrm>
        </p:spPr>
        <p:txBody>
          <a:bodyPr/>
          <a:lstStyle>
            <a:lvl1pPr marL="0" indent="0">
              <a:buNone/>
              <a:defRPr sz="2276"/>
            </a:lvl1pPr>
            <a:lvl2pPr marL="325115" indent="0">
              <a:buNone/>
              <a:defRPr sz="1991"/>
            </a:lvl2pPr>
            <a:lvl3pPr marL="650230" indent="0">
              <a:buNone/>
              <a:defRPr sz="1707"/>
            </a:lvl3pPr>
            <a:lvl4pPr marL="975345" indent="0">
              <a:buNone/>
              <a:defRPr sz="1422"/>
            </a:lvl4pPr>
            <a:lvl5pPr marL="1300460" indent="0">
              <a:buNone/>
              <a:defRPr sz="1422"/>
            </a:lvl5pPr>
            <a:lvl6pPr marL="1625575" indent="0">
              <a:buNone/>
              <a:defRPr sz="1422"/>
            </a:lvl6pPr>
            <a:lvl7pPr marL="1950690" indent="0">
              <a:buNone/>
              <a:defRPr sz="1422"/>
            </a:lvl7pPr>
            <a:lvl8pPr marL="2275804" indent="0">
              <a:buNone/>
              <a:defRPr sz="1422"/>
            </a:lvl8pPr>
            <a:lvl9pPr marL="2600919" indent="0">
              <a:buNone/>
              <a:defRPr sz="1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F88FF2-349C-A699-7640-7FBE1994B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463040"/>
            <a:ext cx="3932237" cy="2710463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36C8FB-26D6-A50C-D2B3-825E7029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DAD402-73A7-FB14-D33E-1EC4658E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B7D578-02BF-7485-03E4-F10453FE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AFFC5-0EC9-BB94-B3B0-929B08B8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47C88E-0392-F242-DA46-41A65E493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3A966-2737-60ED-D0DB-AEDD5731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302C8-5C16-1CA6-37E3-FE82CE41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4AB38-C57A-D0BA-8D52-EAD68BEF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1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5E548B-D11E-6DEE-85BB-870A4D19E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259644"/>
            <a:ext cx="2628900" cy="41328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17AAF3-9161-BAA9-C65E-EFA2A5E24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59644"/>
            <a:ext cx="7734300" cy="413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5C7CA3-5B38-66E5-FE71-29450C53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59F91-CB5A-E3F7-C2DD-3AA94D56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5328D-6C03-BDD0-FD90-8CC41F2F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62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BF491E-66B4-E586-0A13-4B158987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645"/>
            <a:ext cx="10515600" cy="942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4B51F2-1C45-633A-C26A-15573DC52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3094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877652-9943-5633-7916-811769EA9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4520072"/>
            <a:ext cx="274320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1D292-EE6F-4F30-A071-3CAAFCC4DC42}" type="datetimeFigureOut">
              <a:rPr lang="zh-CN" altLang="en-US" smtClean="0"/>
              <a:t>2026/07/27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50B61-4AC9-4F4A-24C8-4EB190ADD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4520072"/>
            <a:ext cx="411480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C471B-14D1-2CDE-3A39-49A8FFDB6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520072"/>
            <a:ext cx="274320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C19F5-AA62-46A6-8DEC-7A2310CA8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60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TVBA_B01_Background">
            <a:extLst>
              <a:ext uri="{FF2B5EF4-FFF2-40B4-BE49-F238E27FC236}">
                <a16:creationId xmlns:a16="http://schemas.microsoft.com/office/drawing/2014/main" id="{FB5C15E7-793B-4E54-9714-5633CC1E0041}"/>
              </a:ext>
            </a:extLst>
          </p:cNvPr>
          <p:cNvSpPr/>
          <p:nvPr/>
        </p:nvSpPr>
        <p:spPr>
          <a:xfrm>
            <a:off x="3099" y="-5817"/>
            <a:ext cx="12192000" cy="4876800"/>
          </a:xfrm>
          <a:prstGeom prst="rect">
            <a:avLst/>
          </a:prstGeom>
          <a:solidFill>
            <a:srgbClr val="F7FA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AITVBA_E02_ContextPanel">
            <a:extLst>
              <a:ext uri="{FF2B5EF4-FFF2-40B4-BE49-F238E27FC236}">
                <a16:creationId xmlns:a16="http://schemas.microsoft.com/office/drawing/2014/main" id="{0018E480-EAFD-D08C-F241-965772F440AF}"/>
              </a:ext>
            </a:extLst>
          </p:cNvPr>
          <p:cNvSpPr/>
          <p:nvPr/>
        </p:nvSpPr>
        <p:spPr>
          <a:xfrm>
            <a:off x="3528300" y="733755"/>
            <a:ext cx="5300740" cy="3810775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4605">
            <a:solidFill>
              <a:srgbClr val="DCEDEA"/>
            </a:solidFill>
          </a:ln>
          <a:effectLst>
            <a:outerShdw blurRad="48768" dist="38989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AITVBA_E20_ActionFrame">
            <a:extLst>
              <a:ext uri="{FF2B5EF4-FFF2-40B4-BE49-F238E27FC236}">
                <a16:creationId xmlns:a16="http://schemas.microsoft.com/office/drawing/2014/main" id="{14B31387-CF86-7247-C21B-49B05A0504F9}"/>
              </a:ext>
            </a:extLst>
          </p:cNvPr>
          <p:cNvSpPr/>
          <p:nvPr/>
        </p:nvSpPr>
        <p:spPr>
          <a:xfrm>
            <a:off x="3640598" y="1496151"/>
            <a:ext cx="5038575" cy="1014715"/>
          </a:xfrm>
          <a:prstGeom prst="roundRect">
            <a:avLst>
              <a:gd name="adj" fmla="val 4724"/>
            </a:avLst>
          </a:prstGeom>
          <a:solidFill>
            <a:srgbClr val="FFF1D6"/>
          </a:solidFill>
          <a:ln w="19558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ITVBA_B02_TitleBand">
            <a:extLst>
              <a:ext uri="{FF2B5EF4-FFF2-40B4-BE49-F238E27FC236}">
                <a16:creationId xmlns:a16="http://schemas.microsoft.com/office/drawing/2014/main" id="{19BD2645-112F-7E75-53D6-9D0B0372D0AC}"/>
              </a:ext>
            </a:extLst>
          </p:cNvPr>
          <p:cNvSpPr/>
          <p:nvPr/>
        </p:nvSpPr>
        <p:spPr>
          <a:xfrm>
            <a:off x="0" y="0"/>
            <a:ext cx="12192000" cy="507187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ITVBA_B03_TitleRule">
            <a:extLst>
              <a:ext uri="{FF2B5EF4-FFF2-40B4-BE49-F238E27FC236}">
                <a16:creationId xmlns:a16="http://schemas.microsoft.com/office/drawing/2014/main" id="{522CC09F-CE24-C42E-769C-11C1042EED64}"/>
              </a:ext>
            </a:extLst>
          </p:cNvPr>
          <p:cNvSpPr/>
          <p:nvPr/>
        </p:nvSpPr>
        <p:spPr>
          <a:xfrm>
            <a:off x="0" y="487680"/>
            <a:ext cx="12192000" cy="19507"/>
          </a:xfrm>
          <a:prstGeom prst="rect">
            <a:avLst/>
          </a:prstGeom>
          <a:solidFill>
            <a:srgbClr val="E0E8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ITVBA_E01_Title">
            <a:extLst>
              <a:ext uri="{FF2B5EF4-FFF2-40B4-BE49-F238E27FC236}">
                <a16:creationId xmlns:a16="http://schemas.microsoft.com/office/drawing/2014/main" id="{D6FF32C9-C247-AD9C-84BF-B82A5F5C4B03}"/>
              </a:ext>
            </a:extLst>
          </p:cNvPr>
          <p:cNvSpPr txBox="1"/>
          <p:nvPr/>
        </p:nvSpPr>
        <p:spPr>
          <a:xfrm>
            <a:off x="399898" y="15415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420" b="1">
                <a:solidFill>
                  <a:srgbClr val="173F46"/>
                </a:solidFill>
                <a:latin typeface="Arial" panose="020B0604020202020204" pitchFamily="34" charset="0"/>
              </a:rPr>
              <a:t>Event-Triggered Predictive Reinforcement Learning with Unsupervised Dynamic Event Gating for Energy Efficient HVAC Control</a:t>
            </a:r>
            <a:endParaRPr lang="zh-CN" altLang="en-US" sz="1420" b="1">
              <a:solidFill>
                <a:srgbClr val="173F46"/>
              </a:solidFill>
              <a:latin typeface="Arial" panose="020B0604020202020204" pitchFamily="34" charset="0"/>
            </a:endParaRPr>
          </a:p>
        </p:txBody>
      </p:sp>
      <p:sp>
        <p:nvSpPr>
          <p:cNvPr id="6" name="AITVBA_E02_ContextPanel">
            <a:extLst>
              <a:ext uri="{FF2B5EF4-FFF2-40B4-BE49-F238E27FC236}">
                <a16:creationId xmlns:a16="http://schemas.microsoft.com/office/drawing/2014/main" id="{88392DC9-3DE7-4758-D3EA-2D822C4F569A}"/>
              </a:ext>
            </a:extLst>
          </p:cNvPr>
          <p:cNvSpPr/>
          <p:nvPr/>
        </p:nvSpPr>
        <p:spPr>
          <a:xfrm>
            <a:off x="287731" y="723760"/>
            <a:ext cx="2731008" cy="3784397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4605">
            <a:solidFill>
              <a:srgbClr val="DCEDEA"/>
            </a:solidFill>
          </a:ln>
          <a:effectLst>
            <a:outerShdw blurRad="48768" dist="38989" dir="5400000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ITVBA_E03_ContextHeaderText">
            <a:extLst>
              <a:ext uri="{FF2B5EF4-FFF2-40B4-BE49-F238E27FC236}">
                <a16:creationId xmlns:a16="http://schemas.microsoft.com/office/drawing/2014/main" id="{D6666706-4887-E98F-637C-5866EFD3F6FC}"/>
              </a:ext>
            </a:extLst>
          </p:cNvPr>
          <p:cNvSpPr txBox="1"/>
          <p:nvPr/>
        </p:nvSpPr>
        <p:spPr>
          <a:xfrm flipH="1">
            <a:off x="440055" y="793977"/>
            <a:ext cx="2381184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endParaRPr lang="zh-CN" altLang="en-US" sz="1305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sp>
        <p:nvSpPr>
          <p:cNvPr id="10" name="AITVBA_E04_FixedTitle">
            <a:extLst>
              <a:ext uri="{FF2B5EF4-FFF2-40B4-BE49-F238E27FC236}">
                <a16:creationId xmlns:a16="http://schemas.microsoft.com/office/drawing/2014/main" id="{00E04472-C767-86DF-C951-D1FF2C513487}"/>
              </a:ext>
            </a:extLst>
          </p:cNvPr>
          <p:cNvSpPr txBox="1"/>
          <p:nvPr/>
        </p:nvSpPr>
        <p:spPr>
          <a:xfrm>
            <a:off x="512064" y="124275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98" b="1">
                <a:solidFill>
                  <a:srgbClr val="263238"/>
                </a:solidFill>
                <a:latin typeface="Arial" panose="020B0604020202020204" pitchFamily="34" charset="0"/>
              </a:rPr>
              <a:t>Fixed-interval control</a:t>
            </a:r>
            <a:endParaRPr lang="zh-CN" altLang="en-US" sz="998" b="1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sp>
        <p:nvSpPr>
          <p:cNvPr id="61" name="AITVBA_E06_RedundantBand">
            <a:extLst>
              <a:ext uri="{FF2B5EF4-FFF2-40B4-BE49-F238E27FC236}">
                <a16:creationId xmlns:a16="http://schemas.microsoft.com/office/drawing/2014/main" id="{975C1CE5-1FBD-0A2E-35CD-33F74813A6A2}"/>
              </a:ext>
            </a:extLst>
          </p:cNvPr>
          <p:cNvSpPr/>
          <p:nvPr/>
        </p:nvSpPr>
        <p:spPr>
          <a:xfrm>
            <a:off x="458419" y="2267712"/>
            <a:ext cx="2399386" cy="219456"/>
          </a:xfrm>
          <a:prstGeom prst="roundRect">
            <a:avLst>
              <a:gd name="adj" fmla="val 26667"/>
            </a:avLst>
          </a:prstGeom>
          <a:solidFill>
            <a:srgbClr val="F7EC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AITVBA_E06_RedundantText">
            <a:extLst>
              <a:ext uri="{FF2B5EF4-FFF2-40B4-BE49-F238E27FC236}">
                <a16:creationId xmlns:a16="http://schemas.microsoft.com/office/drawing/2014/main" id="{0E62FAE1-3F00-BE9D-50D0-643BEE9583D8}"/>
              </a:ext>
            </a:extLst>
          </p:cNvPr>
          <p:cNvSpPr txBox="1"/>
          <p:nvPr/>
        </p:nvSpPr>
        <p:spPr>
          <a:xfrm>
            <a:off x="1681097" y="229408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00" b="1" dirty="0">
                <a:solidFill>
                  <a:srgbClr val="A74C48"/>
                </a:solidFill>
                <a:latin typeface="Arial" panose="020B0604020202020204" pitchFamily="34" charset="0"/>
              </a:rPr>
              <a:t>Redundant updates in stable periods</a:t>
            </a:r>
            <a:endParaRPr lang="zh-CN" altLang="en-US" sz="1000" b="1" dirty="0">
              <a:solidFill>
                <a:srgbClr val="A74C48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AITVBA_L04_ContextDivider">
            <a:extLst>
              <a:ext uri="{FF2B5EF4-FFF2-40B4-BE49-F238E27FC236}">
                <a16:creationId xmlns:a16="http://schemas.microsoft.com/office/drawing/2014/main" id="{79B48D05-E408-134E-D23E-D327CBA32AB4}"/>
              </a:ext>
            </a:extLst>
          </p:cNvPr>
          <p:cNvCxnSpPr/>
          <p:nvPr/>
        </p:nvCxnSpPr>
        <p:spPr>
          <a:xfrm>
            <a:off x="468173" y="2570074"/>
            <a:ext cx="2379878" cy="0"/>
          </a:xfrm>
          <a:prstGeom prst="line">
            <a:avLst/>
          </a:prstGeom>
          <a:ln w="14605">
            <a:solidFill>
              <a:srgbClr val="D5D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AITVBA_E07_StaticTitle">
            <a:extLst>
              <a:ext uri="{FF2B5EF4-FFF2-40B4-BE49-F238E27FC236}">
                <a16:creationId xmlns:a16="http://schemas.microsoft.com/office/drawing/2014/main" id="{00026E71-50AC-F46D-8426-001B1636D67C}"/>
              </a:ext>
            </a:extLst>
          </p:cNvPr>
          <p:cNvSpPr txBox="1"/>
          <p:nvPr/>
        </p:nvSpPr>
        <p:spPr>
          <a:xfrm>
            <a:off x="512064" y="269116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98" b="1">
                <a:solidFill>
                  <a:srgbClr val="263238"/>
                </a:solidFill>
                <a:latin typeface="Arial" panose="020B0604020202020204" pitchFamily="34" charset="0"/>
              </a:rPr>
              <a:t>Static-threshold control</a:t>
            </a:r>
            <a:endParaRPr lang="zh-CN" altLang="en-US" sz="998" b="1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sp>
        <p:nvSpPr>
          <p:cNvPr id="107" name="AITVBA_E10_DriftBand">
            <a:extLst>
              <a:ext uri="{FF2B5EF4-FFF2-40B4-BE49-F238E27FC236}">
                <a16:creationId xmlns:a16="http://schemas.microsoft.com/office/drawing/2014/main" id="{E5466080-F378-3A52-9521-9F5EACC76646}"/>
              </a:ext>
            </a:extLst>
          </p:cNvPr>
          <p:cNvSpPr/>
          <p:nvPr/>
        </p:nvSpPr>
        <p:spPr>
          <a:xfrm>
            <a:off x="458419" y="3828288"/>
            <a:ext cx="2399386" cy="219456"/>
          </a:xfrm>
          <a:prstGeom prst="roundRect">
            <a:avLst>
              <a:gd name="adj" fmla="val 26667"/>
            </a:avLst>
          </a:prstGeom>
          <a:solidFill>
            <a:srgbClr val="F7EC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AITVBA_E10_DriftText">
            <a:extLst>
              <a:ext uri="{FF2B5EF4-FFF2-40B4-BE49-F238E27FC236}">
                <a16:creationId xmlns:a16="http://schemas.microsoft.com/office/drawing/2014/main" id="{9CDA0F84-6722-E27A-2366-D391FAFC4F07}"/>
              </a:ext>
            </a:extLst>
          </p:cNvPr>
          <p:cNvSpPr txBox="1"/>
          <p:nvPr/>
        </p:nvSpPr>
        <p:spPr>
          <a:xfrm>
            <a:off x="1628861" y="3862426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00" b="1" dirty="0">
                <a:solidFill>
                  <a:srgbClr val="A74C48"/>
                </a:solidFill>
                <a:latin typeface="Arial" panose="020B0604020202020204" pitchFamily="34" charset="0"/>
              </a:rPr>
              <a:t>Missed or excessive triggers under drift</a:t>
            </a:r>
            <a:endParaRPr lang="zh-CN" altLang="en-US" sz="900" b="1" dirty="0">
              <a:solidFill>
                <a:srgbClr val="A74C48"/>
              </a:solidFill>
              <a:latin typeface="Arial" panose="020B0604020202020204" pitchFamily="34" charset="0"/>
            </a:endParaRPr>
          </a:p>
        </p:txBody>
      </p:sp>
      <p:sp>
        <p:nvSpPr>
          <p:cNvPr id="109" name="AITVBA_E11_LimitedBand">
            <a:extLst>
              <a:ext uri="{FF2B5EF4-FFF2-40B4-BE49-F238E27FC236}">
                <a16:creationId xmlns:a16="http://schemas.microsoft.com/office/drawing/2014/main" id="{B9F36D54-5D44-8908-DBB7-F46B575540A4}"/>
              </a:ext>
            </a:extLst>
          </p:cNvPr>
          <p:cNvSpPr/>
          <p:nvPr/>
        </p:nvSpPr>
        <p:spPr>
          <a:xfrm>
            <a:off x="497434" y="4130649"/>
            <a:ext cx="2321356" cy="253594"/>
          </a:xfrm>
          <a:prstGeom prst="roundRect">
            <a:avLst>
              <a:gd name="adj" fmla="val 23077"/>
            </a:avLst>
          </a:prstGeom>
          <a:solidFill>
            <a:srgbClr val="FFF1D6"/>
          </a:solidFill>
          <a:ln w="1460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263238"/>
                </a:solidFill>
                <a:latin typeface="Arial" panose="020B0604020202020204" pitchFamily="34" charset="0"/>
              </a:rPr>
              <a:t>Limited adaptability</a:t>
            </a:r>
            <a:endParaRPr lang="zh-CN" altLang="en-US" sz="1200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sp>
        <p:nvSpPr>
          <p:cNvPr id="110" name="AITVBA_E11_LimitedText">
            <a:extLst>
              <a:ext uri="{FF2B5EF4-FFF2-40B4-BE49-F238E27FC236}">
                <a16:creationId xmlns:a16="http://schemas.microsoft.com/office/drawing/2014/main" id="{72A57153-5C7A-54EE-2AE6-A5AA40430017}"/>
              </a:ext>
            </a:extLst>
          </p:cNvPr>
          <p:cNvSpPr txBox="1"/>
          <p:nvPr/>
        </p:nvSpPr>
        <p:spPr>
          <a:xfrm>
            <a:off x="1653235" y="413211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endParaRPr lang="zh-CN" altLang="en-US" sz="1305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cxnSp>
        <p:nvCxnSpPr>
          <p:cNvPr id="111" name="AITVBA_L08_ToMain">
            <a:extLst>
              <a:ext uri="{FF2B5EF4-FFF2-40B4-BE49-F238E27FC236}">
                <a16:creationId xmlns:a16="http://schemas.microsoft.com/office/drawing/2014/main" id="{07922C94-9858-C814-ED61-ABDB2933870A}"/>
              </a:ext>
            </a:extLst>
          </p:cNvPr>
          <p:cNvCxnSpPr/>
          <p:nvPr/>
        </p:nvCxnSpPr>
        <p:spPr>
          <a:xfrm>
            <a:off x="3121152" y="2613965"/>
            <a:ext cx="292608" cy="0"/>
          </a:xfrm>
          <a:prstGeom prst="line">
            <a:avLst/>
          </a:prstGeom>
          <a:ln w="29210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AITVBA_E13_MainHeaderText">
            <a:extLst>
              <a:ext uri="{FF2B5EF4-FFF2-40B4-BE49-F238E27FC236}">
                <a16:creationId xmlns:a16="http://schemas.microsoft.com/office/drawing/2014/main" id="{D54FF0C3-8934-6CB8-4C4F-B823E109F42B}"/>
              </a:ext>
            </a:extLst>
          </p:cNvPr>
          <p:cNvSpPr txBox="1"/>
          <p:nvPr/>
        </p:nvSpPr>
        <p:spPr>
          <a:xfrm>
            <a:off x="6196567" y="856367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endParaRPr lang="zh-CN" altLang="en-US" sz="1305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sp>
        <p:nvSpPr>
          <p:cNvPr id="117" name="AITVBA_E15_GateTitle">
            <a:extLst>
              <a:ext uri="{FF2B5EF4-FFF2-40B4-BE49-F238E27FC236}">
                <a16:creationId xmlns:a16="http://schemas.microsoft.com/office/drawing/2014/main" id="{9B74F336-68B5-3CD1-973F-9CC75C1D574B}"/>
              </a:ext>
            </a:extLst>
          </p:cNvPr>
          <p:cNvSpPr txBox="1"/>
          <p:nvPr/>
        </p:nvSpPr>
        <p:spPr>
          <a:xfrm flipH="1">
            <a:off x="3849558" y="1179697"/>
            <a:ext cx="4730497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075" b="1" dirty="0">
                <a:solidFill>
                  <a:srgbClr val="00695C"/>
                </a:solidFill>
                <a:latin typeface="Arial" panose="020B0604020202020204" pitchFamily="34" charset="0"/>
              </a:rPr>
              <a:t>Unsupervised dynamic event gate</a:t>
            </a:r>
            <a:endParaRPr lang="zh-CN" altLang="en-US" sz="1075" b="1" dirty="0">
              <a:solidFill>
                <a:srgbClr val="00695C"/>
              </a:solidFill>
              <a:latin typeface="Arial" panose="020B0604020202020204" pitchFamily="34" charset="0"/>
            </a:endParaRPr>
          </a:p>
        </p:txBody>
      </p:sp>
      <p:sp>
        <p:nvSpPr>
          <p:cNvPr id="118" name="AITVBA_E16_InputCard">
            <a:extLst>
              <a:ext uri="{FF2B5EF4-FFF2-40B4-BE49-F238E27FC236}">
                <a16:creationId xmlns:a16="http://schemas.microsoft.com/office/drawing/2014/main" id="{2410E77C-509B-1755-AC00-05AAF500882A}"/>
              </a:ext>
            </a:extLst>
          </p:cNvPr>
          <p:cNvSpPr/>
          <p:nvPr/>
        </p:nvSpPr>
        <p:spPr>
          <a:xfrm>
            <a:off x="3795288" y="1803686"/>
            <a:ext cx="913498" cy="36812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460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800" b="1" dirty="0">
                <a:solidFill>
                  <a:srgbClr val="263238"/>
                </a:solidFill>
                <a:latin typeface="Arial" panose="020B0604020202020204" pitchFamily="34" charset="0"/>
              </a:rPr>
              <a:t>Predictive state</a:t>
            </a:r>
          </a:p>
          <a:p>
            <a:pPr algn="ctr"/>
            <a:r>
              <a:rPr lang="en-US" altLang="zh-CN" sz="800" b="1" dirty="0">
                <a:solidFill>
                  <a:srgbClr val="263238"/>
                </a:solidFill>
                <a:latin typeface="Arial" panose="020B0604020202020204" pitchFamily="34" charset="0"/>
              </a:rPr>
              <a:t>sₜ</a:t>
            </a:r>
            <a:endParaRPr lang="zh-CN" altLang="en-US" sz="800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cxnSp>
        <p:nvCxnSpPr>
          <p:cNvPr id="125" name="AITVBA_L09_InputToScore">
            <a:extLst>
              <a:ext uri="{FF2B5EF4-FFF2-40B4-BE49-F238E27FC236}">
                <a16:creationId xmlns:a16="http://schemas.microsoft.com/office/drawing/2014/main" id="{250FDF06-3A1E-DBBB-3A02-A273530698E2}"/>
              </a:ext>
            </a:extLst>
          </p:cNvPr>
          <p:cNvCxnSpPr/>
          <p:nvPr/>
        </p:nvCxnSpPr>
        <p:spPr>
          <a:xfrm>
            <a:off x="4767072" y="1979981"/>
            <a:ext cx="97536" cy="0"/>
          </a:xfrm>
          <a:prstGeom prst="line">
            <a:avLst/>
          </a:prstGeom>
          <a:ln w="19558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AITVBA_E17_M">
            <a:extLst>
              <a:ext uri="{FF2B5EF4-FFF2-40B4-BE49-F238E27FC236}">
                <a16:creationId xmlns:a16="http://schemas.microsoft.com/office/drawing/2014/main" id="{04987A9C-586C-F773-74F3-7B76F3299BFC}"/>
              </a:ext>
            </a:extLst>
          </p:cNvPr>
          <p:cNvSpPr txBox="1"/>
          <p:nvPr/>
        </p:nvSpPr>
        <p:spPr>
          <a:xfrm>
            <a:off x="5188305" y="204893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r"/>
            <a:endParaRPr lang="zh-CN" altLang="en-US" sz="691" dirty="0">
              <a:solidFill>
                <a:srgbClr val="455A64"/>
              </a:solidFill>
              <a:latin typeface="Arial" panose="020B0604020202020204" pitchFamily="34" charset="0"/>
            </a:endParaRPr>
          </a:p>
        </p:txBody>
      </p:sp>
      <p:sp>
        <p:nvSpPr>
          <p:cNvPr id="131" name="AITVBA_E17_L">
            <a:extLst>
              <a:ext uri="{FF2B5EF4-FFF2-40B4-BE49-F238E27FC236}">
                <a16:creationId xmlns:a16="http://schemas.microsoft.com/office/drawing/2014/main" id="{0BEBEE1B-E943-6CC6-FC3B-A0E85E23E86D}"/>
              </a:ext>
            </a:extLst>
          </p:cNvPr>
          <p:cNvSpPr txBox="1"/>
          <p:nvPr/>
        </p:nvSpPr>
        <p:spPr>
          <a:xfrm>
            <a:off x="5188305" y="215135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r"/>
            <a:endParaRPr lang="zh-CN" altLang="en-US" sz="691" dirty="0">
              <a:solidFill>
                <a:srgbClr val="455A64"/>
              </a:solidFill>
              <a:latin typeface="Arial" panose="020B0604020202020204" pitchFamily="34" charset="0"/>
            </a:endParaRPr>
          </a:p>
        </p:txBody>
      </p: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4616D9CD-2F02-C391-73DF-74DA89E0F716}"/>
              </a:ext>
            </a:extLst>
          </p:cNvPr>
          <p:cNvGrpSpPr/>
          <p:nvPr/>
        </p:nvGrpSpPr>
        <p:grpSpPr>
          <a:xfrm>
            <a:off x="7603103" y="1804193"/>
            <a:ext cx="914533" cy="367200"/>
            <a:chOff x="7553573" y="1788953"/>
            <a:chExt cx="914533" cy="367200"/>
          </a:xfrm>
        </p:grpSpPr>
        <p:sp>
          <p:nvSpPr>
            <p:cNvPr id="180" name="AITVBA_E19_DecisionCard">
              <a:extLst>
                <a:ext uri="{FF2B5EF4-FFF2-40B4-BE49-F238E27FC236}">
                  <a16:creationId xmlns:a16="http://schemas.microsoft.com/office/drawing/2014/main" id="{9634E3C6-A64E-6A2A-BB79-0A518F30415B}"/>
                </a:ext>
              </a:extLst>
            </p:cNvPr>
            <p:cNvSpPr/>
            <p:nvPr/>
          </p:nvSpPr>
          <p:spPr>
            <a:xfrm>
              <a:off x="7553706" y="1788953"/>
              <a:ext cx="914400" cy="3672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60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4FDE3307-DBF2-74B3-1621-864B74DA66B8}"/>
                </a:ext>
              </a:extLst>
            </p:cNvPr>
            <p:cNvGrpSpPr/>
            <p:nvPr/>
          </p:nvGrpSpPr>
          <p:grpSpPr>
            <a:xfrm>
              <a:off x="7553573" y="1790840"/>
              <a:ext cx="914399" cy="337552"/>
              <a:chOff x="7553573" y="1790840"/>
              <a:chExt cx="914399" cy="337552"/>
            </a:xfrm>
          </p:grpSpPr>
          <p:sp>
            <p:nvSpPr>
              <p:cNvPr id="182" name="AITVBA_E19_DecisionTitle">
                <a:extLst>
                  <a:ext uri="{FF2B5EF4-FFF2-40B4-BE49-F238E27FC236}">
                    <a16:creationId xmlns:a16="http://schemas.microsoft.com/office/drawing/2014/main" id="{BB197390-C7D6-E4C8-6185-DE51ED67A9DD}"/>
                  </a:ext>
                </a:extLst>
              </p:cNvPr>
              <p:cNvSpPr txBox="1"/>
              <p:nvPr/>
            </p:nvSpPr>
            <p:spPr>
              <a:xfrm flipH="1">
                <a:off x="7553573" y="1790840"/>
                <a:ext cx="914399" cy="220527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 anchorCtr="1">
                <a:noAutofit/>
              </a:bodyPr>
              <a:lstStyle>
                <a:defPPr>
                  <a:defRPr lang="zh-CN"/>
                </a:defPPr>
                <a:lvl1pPr algn="ctr">
                  <a:defRPr sz="768" b="1">
                    <a:solidFill>
                      <a:srgbClr val="263238"/>
                    </a:solidFill>
                    <a:latin typeface="Arial" panose="020B0604020202020204" pitchFamily="34" charset="0"/>
                  </a:defRPr>
                </a:lvl1pPr>
              </a:lstStyle>
              <a:p>
                <a:r>
                  <a:rPr lang="en-US" altLang="zh-CN" dirty="0"/>
                  <a:t>Trigger decision</a:t>
                </a:r>
                <a:endParaRPr lang="zh-CN" altLang="en-US" dirty="0"/>
              </a:p>
            </p:txBody>
          </p:sp>
          <p:sp>
            <p:nvSpPr>
              <p:cNvPr id="183" name="AITVBA_E19_Formula">
                <a:extLst>
                  <a:ext uri="{FF2B5EF4-FFF2-40B4-BE49-F238E27FC236}">
                    <a16:creationId xmlns:a16="http://schemas.microsoft.com/office/drawing/2014/main" id="{CD538027-52D8-E857-1A5C-5A97104D3E07}"/>
                  </a:ext>
                </a:extLst>
              </p:cNvPr>
              <p:cNvSpPr txBox="1"/>
              <p:nvPr/>
            </p:nvSpPr>
            <p:spPr>
              <a:xfrm flipH="1">
                <a:off x="7553573" y="1981719"/>
                <a:ext cx="914399" cy="146673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zh-CN" sz="768" b="1" dirty="0">
                    <a:solidFill>
                      <a:srgbClr val="263238"/>
                    </a:solidFill>
                    <a:latin typeface="Arial" panose="020B0604020202020204" pitchFamily="34" charset="0"/>
                  </a:rPr>
                  <a:t>A(sₜ) &gt; </a:t>
                </a:r>
                <a:r>
                  <a:rPr lang="el-GR" altLang="zh-CN" sz="768" b="1" dirty="0">
                    <a:solidFill>
                      <a:srgbClr val="263238"/>
                    </a:solidFill>
                    <a:latin typeface="Arial" panose="020B0604020202020204" pitchFamily="34" charset="0"/>
                  </a:rPr>
                  <a:t>τ</a:t>
                </a:r>
                <a:r>
                  <a:rPr lang="en-US" altLang="zh-CN" sz="768" b="1" dirty="0">
                    <a:solidFill>
                      <a:srgbClr val="263238"/>
                    </a:solidFill>
                    <a:latin typeface="Arial" panose="020B0604020202020204" pitchFamily="34" charset="0"/>
                  </a:rPr>
                  <a:t>ₜ</a:t>
                </a:r>
                <a:endParaRPr lang="zh-CN" altLang="en-US" sz="768" b="1" dirty="0">
                  <a:solidFill>
                    <a:srgbClr val="263238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cxnSp>
        <p:nvCxnSpPr>
          <p:cNvPr id="190" name="AITVBA_L14_ToActions_03">
            <a:extLst>
              <a:ext uri="{FF2B5EF4-FFF2-40B4-BE49-F238E27FC236}">
                <a16:creationId xmlns:a16="http://schemas.microsoft.com/office/drawing/2014/main" id="{B680AD4A-CEEA-9866-EAEB-3F0F4836541B}"/>
              </a:ext>
            </a:extLst>
          </p:cNvPr>
          <p:cNvCxnSpPr/>
          <p:nvPr/>
        </p:nvCxnSpPr>
        <p:spPr>
          <a:xfrm>
            <a:off x="6223254" y="2594254"/>
            <a:ext cx="0" cy="126797"/>
          </a:xfrm>
          <a:prstGeom prst="line">
            <a:avLst/>
          </a:prstGeom>
          <a:ln w="29210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AITVBA_E20_ActionFrame">
            <a:extLst>
              <a:ext uri="{FF2B5EF4-FFF2-40B4-BE49-F238E27FC236}">
                <a16:creationId xmlns:a16="http://schemas.microsoft.com/office/drawing/2014/main" id="{D1E21543-7FAF-271D-3FD9-A6F098BE3F37}"/>
              </a:ext>
            </a:extLst>
          </p:cNvPr>
          <p:cNvSpPr/>
          <p:nvPr/>
        </p:nvSpPr>
        <p:spPr>
          <a:xfrm>
            <a:off x="3940454" y="2807056"/>
            <a:ext cx="4603700" cy="1240688"/>
          </a:xfrm>
          <a:prstGeom prst="roundRect">
            <a:avLst>
              <a:gd name="adj" fmla="val 4724"/>
            </a:avLst>
          </a:prstGeom>
          <a:solidFill>
            <a:srgbClr val="F8FBFA"/>
          </a:solidFill>
          <a:ln w="19558">
            <a:solidFill>
              <a:srgbClr val="D5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AITVBA_E21_ActionTitle">
            <a:extLst>
              <a:ext uri="{FF2B5EF4-FFF2-40B4-BE49-F238E27FC236}">
                <a16:creationId xmlns:a16="http://schemas.microsoft.com/office/drawing/2014/main" id="{EA12C26E-78F5-0960-560A-5D9336CD4CDB}"/>
              </a:ext>
            </a:extLst>
          </p:cNvPr>
          <p:cNvSpPr txBox="1"/>
          <p:nvPr/>
        </p:nvSpPr>
        <p:spPr>
          <a:xfrm flipH="1">
            <a:off x="3940385" y="2845419"/>
            <a:ext cx="4603701" cy="2512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998" b="1" dirty="0">
                <a:solidFill>
                  <a:srgbClr val="263238"/>
                </a:solidFill>
                <a:latin typeface="Arial" panose="020B0604020202020204" pitchFamily="34" charset="0"/>
              </a:rPr>
              <a:t>On-demand action selection</a:t>
            </a:r>
            <a:endParaRPr lang="zh-CN" altLang="en-US" sz="998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48AD5BC4-E854-FB17-539A-BCCB5600D796}"/>
              </a:ext>
            </a:extLst>
          </p:cNvPr>
          <p:cNvGrpSpPr/>
          <p:nvPr/>
        </p:nvGrpSpPr>
        <p:grpSpPr>
          <a:xfrm>
            <a:off x="4145149" y="3175267"/>
            <a:ext cx="1960605" cy="744043"/>
            <a:chOff x="4145149" y="3186697"/>
            <a:chExt cx="1960605" cy="744043"/>
          </a:xfrm>
        </p:grpSpPr>
        <p:sp>
          <p:nvSpPr>
            <p:cNvPr id="193" name="AITVBA_E22_EventCard">
              <a:extLst>
                <a:ext uri="{FF2B5EF4-FFF2-40B4-BE49-F238E27FC236}">
                  <a16:creationId xmlns:a16="http://schemas.microsoft.com/office/drawing/2014/main" id="{24C5DF2B-47B0-C980-379C-3F21F80D87EF}"/>
                </a:ext>
              </a:extLst>
            </p:cNvPr>
            <p:cNvSpPr/>
            <p:nvPr/>
          </p:nvSpPr>
          <p:spPr>
            <a:xfrm>
              <a:off x="4145280" y="3186697"/>
              <a:ext cx="1960474" cy="744043"/>
            </a:xfrm>
            <a:prstGeom prst="roundRect">
              <a:avLst>
                <a:gd name="adj" fmla="val 9524"/>
              </a:avLst>
            </a:prstGeom>
            <a:solidFill>
              <a:srgbClr val="00796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AITVBA_E22_EventLabel">
              <a:extLst>
                <a:ext uri="{FF2B5EF4-FFF2-40B4-BE49-F238E27FC236}">
                  <a16:creationId xmlns:a16="http://schemas.microsoft.com/office/drawing/2014/main" id="{18D78E58-067B-F8D1-70C8-DE994E6ED83E}"/>
                </a:ext>
              </a:extLst>
            </p:cNvPr>
            <p:cNvSpPr txBox="1"/>
            <p:nvPr/>
          </p:nvSpPr>
          <p:spPr>
            <a:xfrm flipH="1">
              <a:off x="4145149" y="3186697"/>
              <a:ext cx="1960474" cy="27561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>
              <a:defPPr>
                <a:defRPr lang="zh-CN"/>
              </a:defPPr>
              <a:lvl1pPr algn="ctr">
                <a:defRPr sz="998" b="1">
                  <a:solidFill>
                    <a:srgbClr val="FFFFFF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altLang="zh-CN" sz="800" b="0" dirty="0"/>
                <a:t>EVENT DETECTED</a:t>
              </a:r>
              <a:endParaRPr lang="zh-CN" altLang="en-US" sz="800" b="0" dirty="0"/>
            </a:p>
          </p:txBody>
        </p:sp>
        <p:sp>
          <p:nvSpPr>
            <p:cNvPr id="195" name="AITVBA_E22_DqnLabel">
              <a:extLst>
                <a:ext uri="{FF2B5EF4-FFF2-40B4-BE49-F238E27FC236}">
                  <a16:creationId xmlns:a16="http://schemas.microsoft.com/office/drawing/2014/main" id="{558F275E-6B19-EEC4-BA04-C9F2A68CA0C3}"/>
                </a:ext>
              </a:extLst>
            </p:cNvPr>
            <p:cNvSpPr txBox="1"/>
            <p:nvPr/>
          </p:nvSpPr>
          <p:spPr>
            <a:xfrm flipH="1">
              <a:off x="4153681" y="3468853"/>
              <a:ext cx="1951942" cy="191433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998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Predictive DQN</a:t>
              </a:r>
              <a:endParaRPr lang="zh-CN" altLang="en-US" sz="998" b="1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6" name="AITVBA_E22_UpdateLabel">
              <a:extLst>
                <a:ext uri="{FF2B5EF4-FFF2-40B4-BE49-F238E27FC236}">
                  <a16:creationId xmlns:a16="http://schemas.microsoft.com/office/drawing/2014/main" id="{812F7348-8134-64C0-F6DB-87B35A45BD0B}"/>
                </a:ext>
              </a:extLst>
            </p:cNvPr>
            <p:cNvSpPr txBox="1"/>
            <p:nvPr/>
          </p:nvSpPr>
          <p:spPr>
            <a:xfrm flipH="1">
              <a:off x="4149936" y="3660287"/>
              <a:ext cx="1955622" cy="24525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>
              <a:defPPr>
                <a:defRPr lang="zh-CN"/>
              </a:defPPr>
              <a:lvl1pPr algn="ctr">
                <a:defRPr sz="998" b="0">
                  <a:solidFill>
                    <a:srgbClr val="FFFFFF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altLang="zh-CN" sz="800" dirty="0"/>
                <a:t>Update HVAC setpoint</a:t>
              </a:r>
              <a:endParaRPr lang="zh-CN" altLang="en-US" sz="800" dirty="0"/>
            </a:p>
          </p:txBody>
        </p:sp>
      </p:grp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437752D3-2484-6D13-4E90-94AFEADA8269}"/>
              </a:ext>
            </a:extLst>
          </p:cNvPr>
          <p:cNvGrpSpPr/>
          <p:nvPr/>
        </p:nvGrpSpPr>
        <p:grpSpPr>
          <a:xfrm>
            <a:off x="6365512" y="3175267"/>
            <a:ext cx="1960474" cy="720000"/>
            <a:chOff x="6365512" y="3185538"/>
            <a:chExt cx="1960474" cy="720000"/>
          </a:xfrm>
        </p:grpSpPr>
        <p:sp>
          <p:nvSpPr>
            <p:cNvPr id="197" name="AITVBA_E23_HoldCard">
              <a:extLst>
                <a:ext uri="{FF2B5EF4-FFF2-40B4-BE49-F238E27FC236}">
                  <a16:creationId xmlns:a16="http://schemas.microsoft.com/office/drawing/2014/main" id="{A862FC1C-AAC9-B086-64A8-504BEB552569}"/>
                </a:ext>
              </a:extLst>
            </p:cNvPr>
            <p:cNvSpPr/>
            <p:nvPr/>
          </p:nvSpPr>
          <p:spPr>
            <a:xfrm>
              <a:off x="6365512" y="3185538"/>
              <a:ext cx="1960474" cy="720000"/>
            </a:xfrm>
            <a:prstGeom prst="roundRect">
              <a:avLst>
                <a:gd name="adj" fmla="val 9524"/>
              </a:avLst>
            </a:prstGeom>
            <a:solidFill>
              <a:srgbClr val="E9EFED"/>
            </a:solidFill>
            <a:ln w="1460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AITVBA_E23_NoEventLabel">
              <a:extLst>
                <a:ext uri="{FF2B5EF4-FFF2-40B4-BE49-F238E27FC236}">
                  <a16:creationId xmlns:a16="http://schemas.microsoft.com/office/drawing/2014/main" id="{0B54DDB1-1930-CEE8-BE43-695FA05719EB}"/>
                </a:ext>
              </a:extLst>
            </p:cNvPr>
            <p:cNvSpPr txBox="1"/>
            <p:nvPr/>
          </p:nvSpPr>
          <p:spPr>
            <a:xfrm flipH="1">
              <a:off x="6365643" y="3185538"/>
              <a:ext cx="1960278" cy="277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845" dirty="0">
                  <a:solidFill>
                    <a:srgbClr val="455A64"/>
                  </a:solidFill>
                  <a:latin typeface="Arial" panose="020B0604020202020204" pitchFamily="34" charset="0"/>
                </a:rPr>
                <a:t>NO EVENT</a:t>
              </a:r>
              <a:endParaRPr lang="zh-CN" altLang="en-US" sz="845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9" name="AITVBA_E23_HoldLabel">
              <a:extLst>
                <a:ext uri="{FF2B5EF4-FFF2-40B4-BE49-F238E27FC236}">
                  <a16:creationId xmlns:a16="http://schemas.microsoft.com/office/drawing/2014/main" id="{25BBF10C-7B9F-B16E-BD9F-E9BFB3597A45}"/>
                </a:ext>
              </a:extLst>
            </p:cNvPr>
            <p:cNvSpPr txBox="1"/>
            <p:nvPr/>
          </p:nvSpPr>
          <p:spPr>
            <a:xfrm>
              <a:off x="6365512" y="3442296"/>
              <a:ext cx="1960409" cy="190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998" b="1" dirty="0">
                  <a:solidFill>
                    <a:srgbClr val="263238"/>
                  </a:solidFill>
                  <a:latin typeface="Arial" panose="020B0604020202020204" pitchFamily="34" charset="0"/>
                </a:rPr>
                <a:t>Hold setpoint</a:t>
              </a:r>
              <a:endParaRPr lang="zh-CN" altLang="en-US" sz="998" b="1" dirty="0">
                <a:solidFill>
                  <a:srgbClr val="26323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0" name="AITVBA_E23_ZeroOrderLabel">
              <a:extLst>
                <a:ext uri="{FF2B5EF4-FFF2-40B4-BE49-F238E27FC236}">
                  <a16:creationId xmlns:a16="http://schemas.microsoft.com/office/drawing/2014/main" id="{0D5F4C6F-DAA7-E41F-28BA-827C7DCE7C11}"/>
                </a:ext>
              </a:extLst>
            </p:cNvPr>
            <p:cNvSpPr txBox="1"/>
            <p:nvPr/>
          </p:nvSpPr>
          <p:spPr>
            <a:xfrm flipH="1">
              <a:off x="6365577" y="3628753"/>
              <a:ext cx="1960344" cy="26110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845" dirty="0">
                  <a:solidFill>
                    <a:srgbClr val="455A64"/>
                  </a:solidFill>
                  <a:latin typeface="Arial" panose="020B0604020202020204" pitchFamily="34" charset="0"/>
                </a:rPr>
                <a:t>Zero-order hold</a:t>
              </a:r>
              <a:endParaRPr lang="zh-CN" altLang="en-US" sz="845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1" name="AITVBA_E24_Responsive">
            <a:extLst>
              <a:ext uri="{FF2B5EF4-FFF2-40B4-BE49-F238E27FC236}">
                <a16:creationId xmlns:a16="http://schemas.microsoft.com/office/drawing/2014/main" id="{23716587-116F-BDB3-6F93-F5F1A135606C}"/>
              </a:ext>
            </a:extLst>
          </p:cNvPr>
          <p:cNvSpPr txBox="1"/>
          <p:nvPr/>
        </p:nvSpPr>
        <p:spPr>
          <a:xfrm>
            <a:off x="6279896" y="3941236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endParaRPr lang="zh-CN" altLang="en-US" sz="845" dirty="0">
              <a:solidFill>
                <a:srgbClr val="455A64"/>
              </a:solidFill>
              <a:latin typeface="Arial" panose="020B0604020202020204" pitchFamily="34" charset="0"/>
            </a:endParaRPr>
          </a:p>
        </p:txBody>
      </p:sp>
      <p:cxnSp>
        <p:nvCxnSpPr>
          <p:cNvPr id="202" name="AITVBA_L15_ToOutcome">
            <a:extLst>
              <a:ext uri="{FF2B5EF4-FFF2-40B4-BE49-F238E27FC236}">
                <a16:creationId xmlns:a16="http://schemas.microsoft.com/office/drawing/2014/main" id="{77134E6C-64B9-21E3-5FBD-C6ACC7442906}"/>
              </a:ext>
            </a:extLst>
          </p:cNvPr>
          <p:cNvCxnSpPr/>
          <p:nvPr/>
        </p:nvCxnSpPr>
        <p:spPr>
          <a:xfrm>
            <a:off x="8993124" y="2613965"/>
            <a:ext cx="292608" cy="0"/>
          </a:xfrm>
          <a:prstGeom prst="line">
            <a:avLst/>
          </a:prstGeom>
          <a:ln w="29210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AITVBA_E25_OutcomePanel">
            <a:extLst>
              <a:ext uri="{FF2B5EF4-FFF2-40B4-BE49-F238E27FC236}">
                <a16:creationId xmlns:a16="http://schemas.microsoft.com/office/drawing/2014/main" id="{EE850DB0-FB19-471D-3C17-C5611A21FC7F}"/>
              </a:ext>
            </a:extLst>
          </p:cNvPr>
          <p:cNvSpPr/>
          <p:nvPr/>
        </p:nvSpPr>
        <p:spPr>
          <a:xfrm>
            <a:off x="9460992" y="721766"/>
            <a:ext cx="2438400" cy="3822762"/>
          </a:xfrm>
          <a:prstGeom prst="roundRect">
            <a:avLst>
              <a:gd name="adj" fmla="val 2400"/>
            </a:avLst>
          </a:prstGeom>
          <a:solidFill>
            <a:srgbClr val="173F46"/>
          </a:solidFill>
          <a:ln w="19050" cap="flat" cmpd="sng" algn="ctr">
            <a:noFill/>
            <a:prstDash val="solid"/>
            <a:miter lim="800000"/>
          </a:ln>
          <a:effectLst>
            <a:outerShdw blurRad="48768" dist="38989" dir="5400000" rotWithShape="0">
              <a:scrgbClr r="0" g="0" b="0">
                <a:alpha val="14000"/>
              </a:sc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AITVBA_E26_OutcomeTitle">
            <a:extLst>
              <a:ext uri="{FF2B5EF4-FFF2-40B4-BE49-F238E27FC236}">
                <a16:creationId xmlns:a16="http://schemas.microsoft.com/office/drawing/2014/main" id="{3FD618E6-81B0-8C5B-F782-7290B18B2B6D}"/>
              </a:ext>
            </a:extLst>
          </p:cNvPr>
          <p:cNvSpPr txBox="1"/>
          <p:nvPr/>
        </p:nvSpPr>
        <p:spPr>
          <a:xfrm>
            <a:off x="10674096" y="856367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00" b="1" dirty="0">
                <a:solidFill>
                  <a:srgbClr val="FFFFFF"/>
                </a:solidFill>
                <a:latin typeface="Arial" panose="020B0604020202020204" pitchFamily="34" charset="0"/>
              </a:rPr>
              <a:t>Performance on real chiller data</a:t>
            </a:r>
            <a:endParaRPr lang="zh-CN" altLang="en-US" sz="11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5" name="AITVBA_E27_UpdateMetricCard">
            <a:extLst>
              <a:ext uri="{FF2B5EF4-FFF2-40B4-BE49-F238E27FC236}">
                <a16:creationId xmlns:a16="http://schemas.microsoft.com/office/drawing/2014/main" id="{EF2F2586-ADD3-D291-01E9-BD467FAE42BE}"/>
              </a:ext>
            </a:extLst>
          </p:cNvPr>
          <p:cNvSpPr/>
          <p:nvPr/>
        </p:nvSpPr>
        <p:spPr>
          <a:xfrm>
            <a:off x="9714585" y="1425245"/>
            <a:ext cx="1931213" cy="1092403"/>
          </a:xfrm>
          <a:prstGeom prst="roundRect">
            <a:avLst>
              <a:gd name="adj" fmla="val 5357"/>
            </a:avLst>
          </a:prstGeom>
          <a:solidFill>
            <a:srgbClr val="0079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AITVBA_E27_UpdateMetric">
            <a:extLst>
              <a:ext uri="{FF2B5EF4-FFF2-40B4-BE49-F238E27FC236}">
                <a16:creationId xmlns:a16="http://schemas.microsoft.com/office/drawing/2014/main" id="{25C28066-323B-DE7B-0659-016E36B2C898}"/>
              </a:ext>
            </a:extLst>
          </p:cNvPr>
          <p:cNvSpPr txBox="1"/>
          <p:nvPr/>
        </p:nvSpPr>
        <p:spPr>
          <a:xfrm>
            <a:off x="10696809" y="163927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2381" b="1" dirty="0">
                <a:solidFill>
                  <a:srgbClr val="FFFFFF"/>
                </a:solidFill>
                <a:latin typeface="Arial" panose="020B0604020202020204" pitchFamily="34" charset="0"/>
              </a:rPr>
              <a:t>53.54%</a:t>
            </a:r>
            <a:endParaRPr lang="zh-CN" altLang="en-US" sz="2381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7" name="AITVBA_E27_UpdateMetricLabel">
            <a:extLst>
              <a:ext uri="{FF2B5EF4-FFF2-40B4-BE49-F238E27FC236}">
                <a16:creationId xmlns:a16="http://schemas.microsoft.com/office/drawing/2014/main" id="{79868222-AC54-924B-9A11-D9B1E49D4587}"/>
              </a:ext>
            </a:extLst>
          </p:cNvPr>
          <p:cNvSpPr txBox="1"/>
          <p:nvPr/>
        </p:nvSpPr>
        <p:spPr>
          <a:xfrm>
            <a:off x="10680573" y="214587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3" b="1" dirty="0">
                <a:solidFill>
                  <a:srgbClr val="FFFFFF"/>
                </a:solidFill>
                <a:latin typeface="Arial" panose="020B0604020202020204" pitchFamily="34" charset="0"/>
              </a:rPr>
              <a:t>fewer action updates</a:t>
            </a:r>
            <a:endParaRPr lang="zh-CN" altLang="en-US" sz="883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8" name="AITVBA_E28_EnergyMetricCard">
            <a:extLst>
              <a:ext uri="{FF2B5EF4-FFF2-40B4-BE49-F238E27FC236}">
                <a16:creationId xmlns:a16="http://schemas.microsoft.com/office/drawing/2014/main" id="{DE41D25E-8F92-B615-DE6C-B706E88A6E06}"/>
              </a:ext>
            </a:extLst>
          </p:cNvPr>
          <p:cNvSpPr/>
          <p:nvPr/>
        </p:nvSpPr>
        <p:spPr>
          <a:xfrm>
            <a:off x="9714585" y="2899969"/>
            <a:ext cx="1931213" cy="1092403"/>
          </a:xfrm>
          <a:prstGeom prst="roundRect">
            <a:avLst>
              <a:gd name="adj" fmla="val 5357"/>
            </a:avLst>
          </a:prstGeom>
          <a:solidFill>
            <a:srgbClr val="D08B1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AITVBA_E28_EnergyMetric">
            <a:extLst>
              <a:ext uri="{FF2B5EF4-FFF2-40B4-BE49-F238E27FC236}">
                <a16:creationId xmlns:a16="http://schemas.microsoft.com/office/drawing/2014/main" id="{795C66AD-26CD-7582-335D-6D1B00674A47}"/>
              </a:ext>
            </a:extLst>
          </p:cNvPr>
          <p:cNvSpPr txBox="1"/>
          <p:nvPr/>
        </p:nvSpPr>
        <p:spPr>
          <a:xfrm>
            <a:off x="10691368" y="313497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2381" b="1" dirty="0">
                <a:solidFill>
                  <a:srgbClr val="FFFFFF"/>
                </a:solidFill>
                <a:latin typeface="Arial" panose="020B0604020202020204" pitchFamily="34" charset="0"/>
              </a:rPr>
              <a:t>2.13%</a:t>
            </a:r>
            <a:endParaRPr lang="zh-CN" altLang="en-US" sz="2381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0" name="AITVBA_E28_EnergyMetricLabel">
            <a:extLst>
              <a:ext uri="{FF2B5EF4-FFF2-40B4-BE49-F238E27FC236}">
                <a16:creationId xmlns:a16="http://schemas.microsoft.com/office/drawing/2014/main" id="{C63D5D02-CE0D-4220-588B-C5DD6B2C9BCC}"/>
              </a:ext>
            </a:extLst>
          </p:cNvPr>
          <p:cNvSpPr txBox="1"/>
          <p:nvPr/>
        </p:nvSpPr>
        <p:spPr>
          <a:xfrm>
            <a:off x="10691368" y="360296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3" b="1" dirty="0">
                <a:solidFill>
                  <a:srgbClr val="FFFFFF"/>
                </a:solidFill>
                <a:latin typeface="Arial" panose="020B0604020202020204" pitchFamily="34" charset="0"/>
              </a:rPr>
              <a:t>less energy use</a:t>
            </a:r>
            <a:endParaRPr lang="zh-CN" altLang="en-US" sz="883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1" name="AITVBA_E29_OutcomeFootnote">
            <a:extLst>
              <a:ext uri="{FF2B5EF4-FFF2-40B4-BE49-F238E27FC236}">
                <a16:creationId xmlns:a16="http://schemas.microsoft.com/office/drawing/2014/main" id="{0836E625-2435-5B3F-FFC6-8EA49001D6A3}"/>
              </a:ext>
            </a:extLst>
          </p:cNvPr>
          <p:cNvSpPr txBox="1"/>
          <p:nvPr/>
        </p:nvSpPr>
        <p:spPr>
          <a:xfrm>
            <a:off x="10646664" y="4164959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45" dirty="0">
                <a:solidFill>
                  <a:srgbClr val="FFFFFF"/>
                </a:solidFill>
                <a:latin typeface="Arial" panose="020B0604020202020204" pitchFamily="34" charset="0"/>
              </a:rPr>
              <a:t>Compared with fixed-step RL</a:t>
            </a:r>
            <a:endParaRPr lang="zh-CN" altLang="en-US" sz="845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61E1AD28-6930-673D-141F-E49E1BA58119}"/>
              </a:ext>
            </a:extLst>
          </p:cNvPr>
          <p:cNvSpPr/>
          <p:nvPr/>
        </p:nvSpPr>
        <p:spPr>
          <a:xfrm>
            <a:off x="287731" y="718056"/>
            <a:ext cx="2729822" cy="379562"/>
          </a:xfrm>
          <a:custGeom>
            <a:avLst/>
            <a:gdLst>
              <a:gd name="csX0" fmla="*/ 77933 w 2729822"/>
              <a:gd name="csY0" fmla="*/ 0 h 379562"/>
              <a:gd name="csX1" fmla="*/ 2651028 w 2729822"/>
              <a:gd name="csY1" fmla="*/ 0 h 379562"/>
              <a:gd name="csX2" fmla="*/ 2729822 w 2729822"/>
              <a:gd name="csY2" fmla="*/ 78794 h 379562"/>
              <a:gd name="csX3" fmla="*/ 2729822 w 2729822"/>
              <a:gd name="csY3" fmla="*/ 379562 h 379562"/>
              <a:gd name="csX4" fmla="*/ 0 w 2729822"/>
              <a:gd name="csY4" fmla="*/ 379562 h 379562"/>
              <a:gd name="csX5" fmla="*/ 0 w 2729822"/>
              <a:gd name="csY5" fmla="*/ 74529 h 379562"/>
              <a:gd name="csX6" fmla="*/ 5331 w 2729822"/>
              <a:gd name="csY6" fmla="*/ 48124 h 379562"/>
              <a:gd name="csX7" fmla="*/ 77933 w 2729822"/>
              <a:gd name="csY7" fmla="*/ 0 h 37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29822" h="379562">
                <a:moveTo>
                  <a:pt x="77933" y="0"/>
                </a:moveTo>
                <a:lnTo>
                  <a:pt x="2651028" y="0"/>
                </a:lnTo>
                <a:cubicBezTo>
                  <a:pt x="2694545" y="0"/>
                  <a:pt x="2729822" y="35277"/>
                  <a:pt x="2729822" y="78794"/>
                </a:cubicBezTo>
                <a:lnTo>
                  <a:pt x="2729822" y="379562"/>
                </a:lnTo>
                <a:lnTo>
                  <a:pt x="0" y="379562"/>
                </a:lnTo>
                <a:lnTo>
                  <a:pt x="0" y="74529"/>
                </a:lnTo>
                <a:lnTo>
                  <a:pt x="5331" y="48124"/>
                </a:lnTo>
                <a:cubicBezTo>
                  <a:pt x="17293" y="19843"/>
                  <a:pt x="45295" y="0"/>
                  <a:pt x="77933" y="0"/>
                </a:cubicBezTo>
                <a:close/>
              </a:path>
            </a:pathLst>
          </a:custGeom>
          <a:solidFill>
            <a:srgbClr val="DCE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of conventional triggering</a:t>
            </a:r>
            <a:endParaRPr lang="zh-CN" altLang="zh-CN" sz="11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D4AC7540-A27B-6BD9-5184-165FB1FFCB0F}"/>
              </a:ext>
            </a:extLst>
          </p:cNvPr>
          <p:cNvSpPr/>
          <p:nvPr/>
        </p:nvSpPr>
        <p:spPr>
          <a:xfrm>
            <a:off x="3528300" y="723760"/>
            <a:ext cx="5300740" cy="379562"/>
          </a:xfrm>
          <a:custGeom>
            <a:avLst/>
            <a:gdLst>
              <a:gd name="csX0" fmla="*/ 77933 w 2729822"/>
              <a:gd name="csY0" fmla="*/ 0 h 379562"/>
              <a:gd name="csX1" fmla="*/ 2651028 w 2729822"/>
              <a:gd name="csY1" fmla="*/ 0 h 379562"/>
              <a:gd name="csX2" fmla="*/ 2729822 w 2729822"/>
              <a:gd name="csY2" fmla="*/ 78794 h 379562"/>
              <a:gd name="csX3" fmla="*/ 2729822 w 2729822"/>
              <a:gd name="csY3" fmla="*/ 379562 h 379562"/>
              <a:gd name="csX4" fmla="*/ 0 w 2729822"/>
              <a:gd name="csY4" fmla="*/ 379562 h 379562"/>
              <a:gd name="csX5" fmla="*/ 0 w 2729822"/>
              <a:gd name="csY5" fmla="*/ 74529 h 379562"/>
              <a:gd name="csX6" fmla="*/ 5331 w 2729822"/>
              <a:gd name="csY6" fmla="*/ 48124 h 379562"/>
              <a:gd name="csX7" fmla="*/ 77933 w 2729822"/>
              <a:gd name="csY7" fmla="*/ 0 h 37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29822" h="379562">
                <a:moveTo>
                  <a:pt x="77933" y="0"/>
                </a:moveTo>
                <a:lnTo>
                  <a:pt x="2651028" y="0"/>
                </a:lnTo>
                <a:cubicBezTo>
                  <a:pt x="2694545" y="0"/>
                  <a:pt x="2729822" y="35277"/>
                  <a:pt x="2729822" y="78794"/>
                </a:cubicBezTo>
                <a:lnTo>
                  <a:pt x="2729822" y="379562"/>
                </a:lnTo>
                <a:lnTo>
                  <a:pt x="0" y="379562"/>
                </a:lnTo>
                <a:lnTo>
                  <a:pt x="0" y="74529"/>
                </a:lnTo>
                <a:lnTo>
                  <a:pt x="5331" y="48124"/>
                </a:lnTo>
                <a:cubicBezTo>
                  <a:pt x="17293" y="19843"/>
                  <a:pt x="45295" y="0"/>
                  <a:pt x="77933" y="0"/>
                </a:cubicBezTo>
                <a:close/>
              </a:path>
            </a:pathLst>
          </a:custGeom>
          <a:solidFill>
            <a:srgbClr val="DCE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263238"/>
                </a:solidFill>
                <a:latin typeface="Arial" panose="020B0604020202020204" pitchFamily="34" charset="0"/>
              </a:rPr>
              <a:t>ET-PRL: Predict, detect, and act on demand</a:t>
            </a:r>
            <a:endParaRPr lang="zh-CN" altLang="en-US" sz="1200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  <p:pic>
        <p:nvPicPr>
          <p:cNvPr id="239" name="图形 238">
            <a:extLst>
              <a:ext uri="{FF2B5EF4-FFF2-40B4-BE49-F238E27FC236}">
                <a16:creationId xmlns:a16="http://schemas.microsoft.com/office/drawing/2014/main" id="{C1532713-7D2B-7741-6934-0C9B22C5F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51" r="-1" b="15826"/>
          <a:stretch>
            <a:fillRect/>
          </a:stretch>
        </p:blipFill>
        <p:spPr>
          <a:xfrm>
            <a:off x="419897" y="1454926"/>
            <a:ext cx="2456460" cy="704745"/>
          </a:xfrm>
          <a:prstGeom prst="rect">
            <a:avLst/>
          </a:prstGeom>
        </p:spPr>
      </p:pic>
      <p:pic>
        <p:nvPicPr>
          <p:cNvPr id="244" name="图形 243">
            <a:extLst>
              <a:ext uri="{FF2B5EF4-FFF2-40B4-BE49-F238E27FC236}">
                <a16:creationId xmlns:a16="http://schemas.microsoft.com/office/drawing/2014/main" id="{CCE5C21A-A1B1-32FC-F5CD-7A7B60306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81" b="11296"/>
          <a:stretch>
            <a:fillRect/>
          </a:stretch>
        </p:blipFill>
        <p:spPr>
          <a:xfrm>
            <a:off x="448600" y="2961548"/>
            <a:ext cx="2389566" cy="718170"/>
          </a:xfrm>
          <a:prstGeom prst="rect">
            <a:avLst/>
          </a:prstGeom>
        </p:spPr>
      </p:pic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68FEA814-3FDD-1FB0-BEA5-E4E2DCAC3800}"/>
              </a:ext>
            </a:extLst>
          </p:cNvPr>
          <p:cNvGrpSpPr/>
          <p:nvPr/>
        </p:nvGrpSpPr>
        <p:grpSpPr>
          <a:xfrm>
            <a:off x="4964040" y="1591742"/>
            <a:ext cx="1024264" cy="780288"/>
            <a:chOff x="4844660" y="1591742"/>
            <a:chExt cx="1024264" cy="780288"/>
          </a:xfrm>
        </p:grpSpPr>
        <p:sp>
          <p:nvSpPr>
            <p:cNvPr id="126" name="AITVBA_E17_ScoreCard">
              <a:extLst>
                <a:ext uri="{FF2B5EF4-FFF2-40B4-BE49-F238E27FC236}">
                  <a16:creationId xmlns:a16="http://schemas.microsoft.com/office/drawing/2014/main" id="{78650523-4FD9-DA07-DA04-9D23C4E9F019}"/>
                </a:ext>
              </a:extLst>
            </p:cNvPr>
            <p:cNvSpPr/>
            <p:nvPr/>
          </p:nvSpPr>
          <p:spPr>
            <a:xfrm>
              <a:off x="4844796" y="1591742"/>
              <a:ext cx="1024128" cy="780288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60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AITVBA_E17_ScoreTitle">
              <a:extLst>
                <a:ext uri="{FF2B5EF4-FFF2-40B4-BE49-F238E27FC236}">
                  <a16:creationId xmlns:a16="http://schemas.microsoft.com/office/drawing/2014/main" id="{5DB44B4A-E2A7-DE73-3064-1C23206B37C3}"/>
                </a:ext>
              </a:extLst>
            </p:cNvPr>
            <p:cNvSpPr txBox="1"/>
            <p:nvPr/>
          </p:nvSpPr>
          <p:spPr>
            <a:xfrm flipH="1">
              <a:off x="4850620" y="1591743"/>
              <a:ext cx="1018304" cy="2185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CN" sz="768" b="1" dirty="0">
                  <a:solidFill>
                    <a:srgbClr val="263238"/>
                  </a:solidFill>
                  <a:latin typeface="Arial" panose="020B0604020202020204" pitchFamily="34" charset="0"/>
                </a:rPr>
                <a:t>Multi-scale scoring</a:t>
              </a:r>
              <a:endParaRPr lang="zh-CN" altLang="en-US" sz="768" b="1" dirty="0">
                <a:solidFill>
                  <a:srgbClr val="26323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9" name="AITVBA_E17_S">
              <a:extLst>
                <a:ext uri="{FF2B5EF4-FFF2-40B4-BE49-F238E27FC236}">
                  <a16:creationId xmlns:a16="http://schemas.microsoft.com/office/drawing/2014/main" id="{73CAC0A1-6E30-7688-EE57-96799B410110}"/>
                </a:ext>
              </a:extLst>
            </p:cNvPr>
            <p:cNvSpPr txBox="1"/>
            <p:nvPr/>
          </p:nvSpPr>
          <p:spPr>
            <a:xfrm flipH="1">
              <a:off x="4952515" y="1794806"/>
              <a:ext cx="89405" cy="123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1">
              <a:noAutofit/>
            </a:bodyPr>
            <a:lstStyle/>
            <a:p>
              <a:pPr algn="r"/>
              <a:r>
                <a:rPr lang="en-US" altLang="zh-CN" sz="691" dirty="0">
                  <a:solidFill>
                    <a:srgbClr val="455A64"/>
                  </a:solidFill>
                  <a:latin typeface="Arial" panose="020B0604020202020204" pitchFamily="34" charset="0"/>
                </a:rPr>
                <a:t>S</a:t>
              </a:r>
              <a:endParaRPr lang="zh-CN" altLang="en-US" sz="691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2" name="AITVBA_L10_ShortScore">
              <a:extLst>
                <a:ext uri="{FF2B5EF4-FFF2-40B4-BE49-F238E27FC236}">
                  <a16:creationId xmlns:a16="http://schemas.microsoft.com/office/drawing/2014/main" id="{A4C3159C-A77F-8439-BF3E-1735AFFE8309}"/>
                </a:ext>
              </a:extLst>
            </p:cNvPr>
            <p:cNvCxnSpPr/>
            <p:nvPr/>
          </p:nvCxnSpPr>
          <p:spPr>
            <a:xfrm>
              <a:off x="5127879" y="1849298"/>
              <a:ext cx="365760" cy="0"/>
            </a:xfrm>
            <a:prstGeom prst="line">
              <a:avLst/>
            </a:prstGeom>
            <a:ln w="34163">
              <a:solidFill>
                <a:srgbClr val="0096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AITVBA_L10_MediumScore">
              <a:extLst>
                <a:ext uri="{FF2B5EF4-FFF2-40B4-BE49-F238E27FC236}">
                  <a16:creationId xmlns:a16="http://schemas.microsoft.com/office/drawing/2014/main" id="{455217C0-0A27-F8C6-2955-17465574EC76}"/>
                </a:ext>
              </a:extLst>
            </p:cNvPr>
            <p:cNvCxnSpPr>
              <a:cxnSpLocks/>
            </p:cNvCxnSpPr>
            <p:nvPr/>
          </p:nvCxnSpPr>
          <p:spPr>
            <a:xfrm>
              <a:off x="5127879" y="1994318"/>
              <a:ext cx="478536" cy="0"/>
            </a:xfrm>
            <a:prstGeom prst="line">
              <a:avLst/>
            </a:prstGeom>
            <a:ln w="34163">
              <a:solidFill>
                <a:srgbClr val="4DB6A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AITVBA_L10_LongScore">
              <a:extLst>
                <a:ext uri="{FF2B5EF4-FFF2-40B4-BE49-F238E27FC236}">
                  <a16:creationId xmlns:a16="http://schemas.microsoft.com/office/drawing/2014/main" id="{B703CA54-2451-A97A-3A1F-C5DF25CEF7A1}"/>
                </a:ext>
              </a:extLst>
            </p:cNvPr>
            <p:cNvCxnSpPr>
              <a:cxnSpLocks/>
            </p:cNvCxnSpPr>
            <p:nvPr/>
          </p:nvCxnSpPr>
          <p:spPr>
            <a:xfrm>
              <a:off x="5123688" y="2142923"/>
              <a:ext cx="598932" cy="0"/>
            </a:xfrm>
            <a:prstGeom prst="line">
              <a:avLst/>
            </a:prstGeom>
            <a:ln w="34163">
              <a:solidFill>
                <a:srgbClr val="80CB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AITVBA_E17_FusedScore">
              <a:extLst>
                <a:ext uri="{FF2B5EF4-FFF2-40B4-BE49-F238E27FC236}">
                  <a16:creationId xmlns:a16="http://schemas.microsoft.com/office/drawing/2014/main" id="{77AB82CB-5BEF-CEBB-AC7E-B9028457D4E4}"/>
                </a:ext>
              </a:extLst>
            </p:cNvPr>
            <p:cNvSpPr txBox="1"/>
            <p:nvPr/>
          </p:nvSpPr>
          <p:spPr>
            <a:xfrm flipH="1">
              <a:off x="4844660" y="2171982"/>
              <a:ext cx="1024129" cy="200048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691" dirty="0">
                  <a:solidFill>
                    <a:srgbClr val="455A64"/>
                  </a:solidFill>
                  <a:latin typeface="Arial" panose="020B0604020202020204" pitchFamily="34" charset="0"/>
                </a:rPr>
                <a:t>Fused score A(sₜ)</a:t>
              </a:r>
              <a:endParaRPr lang="zh-CN" altLang="en-US" sz="691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" name="AITVBA_E17_S">
              <a:extLst>
                <a:ext uri="{FF2B5EF4-FFF2-40B4-BE49-F238E27FC236}">
                  <a16:creationId xmlns:a16="http://schemas.microsoft.com/office/drawing/2014/main" id="{AA4F0D62-9DCC-3EEB-39D0-B6A56E3A3D0D}"/>
                </a:ext>
              </a:extLst>
            </p:cNvPr>
            <p:cNvSpPr txBox="1"/>
            <p:nvPr/>
          </p:nvSpPr>
          <p:spPr>
            <a:xfrm flipH="1">
              <a:off x="4955704" y="1936413"/>
              <a:ext cx="89405" cy="123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1">
              <a:noAutofit/>
            </a:bodyPr>
            <a:lstStyle/>
            <a:p>
              <a:pPr algn="r"/>
              <a:r>
                <a:rPr lang="en-US" altLang="zh-CN" sz="691" dirty="0">
                  <a:solidFill>
                    <a:srgbClr val="455A64"/>
                  </a:solidFill>
                  <a:latin typeface="Arial" panose="020B0604020202020204" pitchFamily="34" charset="0"/>
                </a:rPr>
                <a:t>M</a:t>
              </a:r>
              <a:endParaRPr lang="zh-CN" altLang="en-US" sz="691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8" name="AITVBA_E17_S">
              <a:extLst>
                <a:ext uri="{FF2B5EF4-FFF2-40B4-BE49-F238E27FC236}">
                  <a16:creationId xmlns:a16="http://schemas.microsoft.com/office/drawing/2014/main" id="{244A8116-4D46-DE8F-7948-9A9FBC41D490}"/>
                </a:ext>
              </a:extLst>
            </p:cNvPr>
            <p:cNvSpPr txBox="1"/>
            <p:nvPr/>
          </p:nvSpPr>
          <p:spPr>
            <a:xfrm flipH="1">
              <a:off x="4958605" y="2074772"/>
              <a:ext cx="89405" cy="123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1">
              <a:noAutofit/>
            </a:bodyPr>
            <a:lstStyle/>
            <a:p>
              <a:pPr algn="r"/>
              <a:r>
                <a:rPr lang="en-US" altLang="zh-CN" sz="691" dirty="0">
                  <a:solidFill>
                    <a:srgbClr val="455A64"/>
                  </a:solidFill>
                  <a:latin typeface="Arial" panose="020B0604020202020204" pitchFamily="34" charset="0"/>
                </a:rPr>
                <a:t>L</a:t>
              </a:r>
              <a:endParaRPr lang="zh-CN" altLang="en-US" sz="691" dirty="0">
                <a:solidFill>
                  <a:srgbClr val="455A64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251" name="AITVBA_L09_InputToScore">
            <a:extLst>
              <a:ext uri="{FF2B5EF4-FFF2-40B4-BE49-F238E27FC236}">
                <a16:creationId xmlns:a16="http://schemas.microsoft.com/office/drawing/2014/main" id="{CEA8C57A-BFDC-E87D-77B8-F0E6235DF775}"/>
              </a:ext>
            </a:extLst>
          </p:cNvPr>
          <p:cNvCxnSpPr/>
          <p:nvPr/>
        </p:nvCxnSpPr>
        <p:spPr>
          <a:xfrm>
            <a:off x="6081014" y="1991778"/>
            <a:ext cx="97536" cy="0"/>
          </a:xfrm>
          <a:prstGeom prst="line">
            <a:avLst/>
          </a:prstGeom>
          <a:ln w="19558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A8678DB0-33C7-A018-29C7-9A21A13BEC2E}"/>
              </a:ext>
            </a:extLst>
          </p:cNvPr>
          <p:cNvGrpSpPr/>
          <p:nvPr/>
        </p:nvGrpSpPr>
        <p:grpSpPr>
          <a:xfrm>
            <a:off x="6271957" y="1589766"/>
            <a:ext cx="1076771" cy="780359"/>
            <a:chOff x="6214807" y="1589766"/>
            <a:chExt cx="1076771" cy="780359"/>
          </a:xfrm>
        </p:grpSpPr>
        <p:sp>
          <p:nvSpPr>
            <p:cNvPr id="137" name="AITVBA_E18_ThresholdCard">
              <a:extLst>
                <a:ext uri="{FF2B5EF4-FFF2-40B4-BE49-F238E27FC236}">
                  <a16:creationId xmlns:a16="http://schemas.microsoft.com/office/drawing/2014/main" id="{D4D67CAD-BD62-B6C3-6B18-4509C3D390AD}"/>
                </a:ext>
              </a:extLst>
            </p:cNvPr>
            <p:cNvSpPr/>
            <p:nvPr/>
          </p:nvSpPr>
          <p:spPr>
            <a:xfrm>
              <a:off x="6218682" y="1589837"/>
              <a:ext cx="1072896" cy="780288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60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AITVBA_E18_ThresholdTitle">
              <a:extLst>
                <a:ext uri="{FF2B5EF4-FFF2-40B4-BE49-F238E27FC236}">
                  <a16:creationId xmlns:a16="http://schemas.microsoft.com/office/drawing/2014/main" id="{5B10DD3D-3181-CF7F-F39E-C8197C21C178}"/>
                </a:ext>
              </a:extLst>
            </p:cNvPr>
            <p:cNvSpPr txBox="1"/>
            <p:nvPr/>
          </p:nvSpPr>
          <p:spPr>
            <a:xfrm flipH="1">
              <a:off x="6214937" y="1589766"/>
              <a:ext cx="1076576" cy="21408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1">
              <a:noAutofit/>
            </a:bodyPr>
            <a:lstStyle>
              <a:defPPr>
                <a:defRPr lang="zh-CN"/>
              </a:defPPr>
              <a:lvl1pPr algn="ctr">
                <a:defRPr sz="768" b="1">
                  <a:solidFill>
                    <a:srgbClr val="263238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altLang="zh-CN" sz="700" dirty="0"/>
                <a:t>Local-global threshold</a:t>
              </a:r>
              <a:endParaRPr lang="zh-CN" altLang="en-US" sz="700" dirty="0"/>
            </a:p>
          </p:txBody>
        </p:sp>
        <p:sp>
          <p:nvSpPr>
            <p:cNvPr id="178" name="AITVBA_E18_DynamicThreshold">
              <a:extLst>
                <a:ext uri="{FF2B5EF4-FFF2-40B4-BE49-F238E27FC236}">
                  <a16:creationId xmlns:a16="http://schemas.microsoft.com/office/drawing/2014/main" id="{99061D34-35BE-5580-5419-F62DD778D4FD}"/>
                </a:ext>
              </a:extLst>
            </p:cNvPr>
            <p:cNvSpPr txBox="1"/>
            <p:nvPr/>
          </p:nvSpPr>
          <p:spPr>
            <a:xfrm flipH="1">
              <a:off x="6214807" y="2181662"/>
              <a:ext cx="1076576" cy="18840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 anchorCtr="0">
              <a:noAutofit/>
            </a:bodyPr>
            <a:lstStyle>
              <a:defPPr>
                <a:defRPr lang="zh-CN"/>
              </a:defPPr>
              <a:lvl1pPr algn="ctr">
                <a:defRPr sz="691">
                  <a:solidFill>
                    <a:srgbClr val="455A64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Dynamic threshold </a:t>
              </a:r>
              <a:r>
                <a:rPr lang="el-GR" altLang="zh-CN" dirty="0"/>
                <a:t>τ</a:t>
              </a:r>
              <a:r>
                <a:rPr lang="en-US" altLang="zh-CN" dirty="0"/>
                <a:t>ₜ</a:t>
              </a:r>
              <a:endParaRPr lang="zh-CN" altLang="en-US" dirty="0"/>
            </a:p>
          </p:txBody>
        </p:sp>
        <p:pic>
          <p:nvPicPr>
            <p:cNvPr id="259" name="图形 258">
              <a:extLst>
                <a:ext uri="{FF2B5EF4-FFF2-40B4-BE49-F238E27FC236}">
                  <a16:creationId xmlns:a16="http://schemas.microsoft.com/office/drawing/2014/main" id="{3805EC2F-D52B-5083-BADA-B7D2F3ED3F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74904" y="1788954"/>
              <a:ext cx="955916" cy="397587"/>
            </a:xfrm>
            <a:prstGeom prst="rect">
              <a:avLst/>
            </a:prstGeom>
          </p:spPr>
        </p:pic>
      </p:grpSp>
      <p:cxnSp>
        <p:nvCxnSpPr>
          <p:cNvPr id="260" name="AITVBA_L09_InputToScore">
            <a:extLst>
              <a:ext uri="{FF2B5EF4-FFF2-40B4-BE49-F238E27FC236}">
                <a16:creationId xmlns:a16="http://schemas.microsoft.com/office/drawing/2014/main" id="{7B69912C-13C8-562E-E84D-47F052A76930}"/>
              </a:ext>
            </a:extLst>
          </p:cNvPr>
          <p:cNvCxnSpPr/>
          <p:nvPr/>
        </p:nvCxnSpPr>
        <p:spPr>
          <a:xfrm>
            <a:off x="7420889" y="1979910"/>
            <a:ext cx="97536" cy="0"/>
          </a:xfrm>
          <a:prstGeom prst="line">
            <a:avLst/>
          </a:prstGeom>
          <a:ln w="19558">
            <a:solidFill>
              <a:srgbClr val="263238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AITVBA_E11_LimitedBand">
            <a:extLst>
              <a:ext uri="{FF2B5EF4-FFF2-40B4-BE49-F238E27FC236}">
                <a16:creationId xmlns:a16="http://schemas.microsoft.com/office/drawing/2014/main" id="{5F205CB0-2F61-E127-6ED3-2F6AA38941D3}"/>
              </a:ext>
            </a:extLst>
          </p:cNvPr>
          <p:cNvSpPr/>
          <p:nvPr/>
        </p:nvSpPr>
        <p:spPr>
          <a:xfrm>
            <a:off x="3765737" y="4162089"/>
            <a:ext cx="4829616" cy="253594"/>
          </a:xfrm>
          <a:prstGeom prst="roundRect">
            <a:avLst>
              <a:gd name="adj" fmla="val 23077"/>
            </a:avLst>
          </a:prstGeom>
          <a:solidFill>
            <a:srgbClr val="FFF1D6"/>
          </a:solidFill>
          <a:ln w="1460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263238"/>
                </a:solidFill>
                <a:latin typeface="Arial" panose="020B0604020202020204" pitchFamily="34" charset="0"/>
              </a:rPr>
              <a:t>Responsive under disturbances Sparse during stable operation</a:t>
            </a:r>
            <a:endParaRPr lang="zh-CN" altLang="en-US" sz="1200" b="1" dirty="0">
              <a:solidFill>
                <a:srgbClr val="26323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76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123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Tang</dc:creator>
  <cp:lastModifiedBy>Microsoft Tang</cp:lastModifiedBy>
  <cp:revision>6</cp:revision>
  <dcterms:created xsi:type="dcterms:W3CDTF">2026-07-27T07:46:20Z</dcterms:created>
  <dcterms:modified xsi:type="dcterms:W3CDTF">2026-07-27T12:07:45Z</dcterms:modified>
</cp:coreProperties>
</file>